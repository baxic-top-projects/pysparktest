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A07ABA-F696-4807-A6C3-3AAF3D44B2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A98B39-4F87-4414-966B-5B951071A8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12319F-D48F-444B-92D8-6E49F2B4BC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A10F2D6-DD5C-45E4-90F8-789981F011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890DE99-2699-47DC-9D47-04250FC003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23E7604-579B-456A-898F-9317206451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519D029-90C2-4108-9429-0455627AA8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C2D1B2E-CA3C-47D2-9FF2-7F8AEFE1E3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AFEFA1E-E767-481D-A9BA-53DF0DB695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4DE4A58-4730-499F-B228-B473156C0F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15542B5-74EA-42B8-AED8-0B1EB0F650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3E92DB-2664-4FA6-AD50-90CD7FBFD0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20347B-B4D5-4AFA-A830-2CA874158A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4F37A6-7B15-4BB9-A878-30A37BC7F8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3B2CC3-9F73-4BF7-9F93-C0F2DB06E2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51AA437-5DFC-4846-B30F-7789023B01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466790-AC4A-468C-BAE2-4A479BF919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5A7248-A270-4E84-8554-DC405538F3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1CDD9E-FBEF-45FE-955C-FFE4482C1D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678985-8614-435E-B427-1DB592D101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90F84D-640D-4AED-ACC0-D02AD2B344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C11EDE3-A3F1-4F1D-95DA-1748F5C746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1505520" y="1828800"/>
            <a:ext cx="61308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ML-проекты в продакшене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2740680" y="3200400"/>
            <a:ext cx="3660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bfdbfe"/>
                </a:solidFill>
                <a:latin typeface="Calibri"/>
              </a:rPr>
              <a:t>Сбер · ЛАНИТ · Альфа-Банк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1813320" y="4114800"/>
            <a:ext cx="551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0caf9"/>
                </a:solidFill>
                <a:latin typeface="Calibri"/>
              </a:rPr>
              <a:t>Рекомендации · Классификация временных рядов · NLP / RAG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Содержание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502920" y="1325880"/>
            <a:ext cx="8226360" cy="35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1. О себе — DS/ML engineer, production ML, рекомендации, LLM/RAG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2. RecSys — данные, candidate generation/ranking, метрики, A/B, деплой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3. RecSys — теория: MF, BPR, NDCG, Recall@K, CTR, uplift, A/B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4. LLM/RAG — retrieval, чанкинг, embeddings, reranking, eval, safety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5. LLM/RAG — теория: cosine/BM25, RAG, faithfulness, hallucination control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6. Классификация — multi-class/label, imbalance, thresholds, monitoring, SLA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7. Классификация — теория: softmax, F1, focal loss, PSI drift, SLA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8. Сбер — гиперперсонализированные рекомендации для 110+ млн клиентов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9. ЛАНИТ — SOLUT: классификация рабочих операций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10. Альфа-Банк — ИИ-помощник контакт-центра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50" spc="-1" strike="noStrike">
                <a:solidFill>
                  <a:srgbClr val="4a5568"/>
                </a:solidFill>
                <a:latin typeface="Calibri"/>
              </a:rPr>
              <a:t>11. Сравнение проектов и общие паттерны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О себе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2228040" y="658440"/>
            <a:ext cx="4686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DS / ML Engineer · production ML · рекомендации · LLM/RAG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459000" y="1188720"/>
            <a:ext cx="8226360" cy="23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4a5568"/>
                </a:solidFill>
                <a:latin typeface="Calibri"/>
              </a:rPr>
              <a:t>DS/ML engineer с опытом production ML, рекомендаций и LLM/RAG.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4a5568"/>
                </a:solidFill>
                <a:latin typeface="Calibri"/>
              </a:rPr>
              <a:t>Самый релевантный опыт: рекомендательная система для Sber, классификатор для ланита, LLM/RAG для Альфа банка. В проектах я отвечал за модели и вывод в production;.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4a5568"/>
                </a:solidFill>
                <a:latin typeface="Calibri"/>
              </a:rPr>
              <a:t>В LLM-проектах делал RAG, дообучение/адаптацию моделей и внутренние инструменты автоматизации.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4a5568"/>
                </a:solidFill>
                <a:latin typeface="Calibri"/>
              </a:rPr>
              <a:t>Мне интересны задачи, где можно связать offline-качество модели с бизнес-метрикой: точность классификации, охват, SLA, снижение ручного труда, влияние на обращения/конверсию/CSAT.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RecSys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2273760" y="658440"/>
            <a:ext cx="4594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fdbfe"/>
                </a:solidFill>
                <a:latin typeface="Calibri"/>
              </a:rPr>
              <a:t>данные · candidate generation / ranking · метрики · A/B · деплой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502920" y="1097280"/>
            <a:ext cx="8226360" cy="42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Данные: поведенческие последовательности, implicit/explicit feedback, feature store, cold start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Candidate generation: быстрый отбор сотен/тысяч кандидатов из каталога, где важен высокий recall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Ranking: точная сортировка кандидатов, где важны NDCG, CTR, conversion и бизнес-эффект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Метрики offline: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NDCG — качество ранжирования: насколько релевантные items стоят выше в выдаче (0–1)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Recall@K — доля всех релевантных items, попавших в top-K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MRR — насколько высоко в выдаче первый релевантный item (Mean Reciprocal Rank)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Метрики online: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CTR — clicks / impressions: интерес пользователя к рекомендации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Conversion — доля пользователей, совершивших целевое действие после показа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Revenue — выручка, атрибутированная рекомендациям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Uplift — относительный эффект A/B: (μ_B − μ_A) / μ_A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A/B: проверяем новую модель на части трафика; считаем uplift, p-value/CI и guardrails, чтобы не ухудшить SLA/отказы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Roll-out: выкатываем поэтапно 5% → 25% → 50% → 100%, откатываем при деградации guardrail-метрик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Деплой: online inference отвечает в реальном времени, batch заранее считает рекомендации; p95 latency и throughput показывают нагрузочную устойчивость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Мониторинг: следим за CTR/conversion, latency, ошибками, свежестью фичей и качеством после переобучения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RecSys — теория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2907360" y="658440"/>
            <a:ext cx="3326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fdbfe"/>
                </a:solidFill>
                <a:latin typeface="Calibri"/>
              </a:rPr>
              <a:t>ranking · offline/online метрики · A/B · деплой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88000" y="3420000"/>
            <a:ext cx="32374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Matrix Factorization: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88000" y="43308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BPR loss: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88000" y="52416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DCG: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88000" y="61524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NDCG: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8000" y="70632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Recall@K: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288000" y="7326000"/>
            <a:ext cx="7917480" cy="5734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288000" y="79740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MRR: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288000" y="8236800"/>
            <a:ext cx="7917480" cy="57348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288000" y="88848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CTR / Uplift: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288000" y="9147600"/>
            <a:ext cx="7917480" cy="57348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4"/>
          <a:stretch/>
        </p:blipFill>
        <p:spPr>
          <a:xfrm>
            <a:off x="2514600" y="3352320"/>
            <a:ext cx="1750320" cy="52128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5"/>
          <a:stretch/>
        </p:blipFill>
        <p:spPr>
          <a:xfrm>
            <a:off x="1381320" y="4124880"/>
            <a:ext cx="2274120" cy="67356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6"/>
          <a:stretch/>
        </p:blipFill>
        <p:spPr>
          <a:xfrm>
            <a:off x="990720" y="4905720"/>
            <a:ext cx="2207520" cy="80712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7"/>
          <a:stretch/>
        </p:blipFill>
        <p:spPr>
          <a:xfrm>
            <a:off x="1143000" y="5943600"/>
            <a:ext cx="1931040" cy="74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LLM / RAG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2575440" y="658440"/>
            <a:ext cx="3991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fdbfe"/>
                </a:solidFill>
                <a:latin typeface="Calibri"/>
              </a:rPr>
              <a:t>retrieval · чанкинг · embeddings · reranking · eval · safety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02920" y="1097280"/>
            <a:ext cx="8226360" cy="33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Retrieval: dense/sparse search, bi-encoder, top-K релевантных фрагментов по запросу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Чанкинг: режем документы на фрагменты; overlap помогает не потерять смысл на границах chunks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Embeddings: переводим запросы и документы в векторы, чтобы искать по смысловой близости, а не только по словам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Reranking: cross-encoder пересортировывает top-K, повышая точность контекста перед генерацией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Eval и метрики retrieval / generation: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Precision@K — доля релевантных chunks среди top-K retrieved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Recall@K — доля найденных релевантных chunks от всех релевантных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nDCG — качество порядка retrieved документов с учётом позиции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Faithfulness — доля утверждений ответа, подтверждённых retrieved-контекстом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Human eval / LLM-as-judge — экспертная или модельная оценка полезности ответа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Hallucination control: модель отвечает только по найденному контексту, ставит citations и отказывается при низкой уверенности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Safety: PII masking, защита от prompt injection, access control и фильтрация данных до передачи в LLM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Monitoring: regression tests на golden set, доля отказов, faithfulness, latency и стоимость ответа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LLM / RAG — теория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2910600" y="658440"/>
            <a:ext cx="3320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fdbfe"/>
                </a:solidFill>
                <a:latin typeface="Calibri"/>
              </a:rPr>
              <a:t>retrieval · embeddings · reranking · eval · safety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61440" y="210924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Cosine similarity: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61440" y="321552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BM25: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47320" y="43542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41480" y="56556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Faithfulness: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689200" y="1938600"/>
            <a:ext cx="2083680" cy="77832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1408680" y="3101760"/>
            <a:ext cx="4084200" cy="73080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3"/>
          <a:stretch/>
        </p:blipFill>
        <p:spPr>
          <a:xfrm>
            <a:off x="1267200" y="4240080"/>
            <a:ext cx="2559960" cy="63540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4"/>
          <a:stretch/>
        </p:blipFill>
        <p:spPr>
          <a:xfrm>
            <a:off x="1885680" y="5419080"/>
            <a:ext cx="2788560" cy="127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Классификация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2275920" y="658440"/>
            <a:ext cx="4590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fdbfe"/>
                </a:solidFill>
                <a:latin typeface="Calibri"/>
              </a:rPr>
              <a:t>multi-class / multi-label · imbalance · thresholds · monitoring · SLA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02920" y="1097280"/>
            <a:ext cx="8226360" cy="38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Multi-class / multi-label: постановка задачи, softmax vs sigmoid, метрики под тип задачи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Imbalance: если классы редкие, используем class weights, resampling или focal loss, чтобы модель не игнорировала minority class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Thresholds и метрики качества: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Precision — доля верных положительных среди всех предсказанных положительных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Recall — доля найденных положительных среди всех реальных положительных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F1 — гармоническое среднее Precision и Recall; баланс precision/recall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Thresholds: порог выбирается под бизнес-цель: меньше false positives или больше найденных целевых кейсов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Confidence: calibration показывает, насколько вероятности похожи на реальные; low-confidence можно отправлять человеку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Monitoring: dashboards качества, latency, error rate и алерты показывают деградацию модели или сервиса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Drift: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PSI — Population Stability Index: насколько сдвинулось распределение score/фичей (PSI &gt; 0.2 — риск)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data drift — меняется входное распределение; concept drift — меняется связь X→y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SLA: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p95 latency — 95-й перцентиль времени ответа сервиса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</a:rPr>
              <a:t>availability — доля успешных запросов; alerting + fallback при нарушении SLA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Классификация — теория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2741400" y="658440"/>
            <a:ext cx="3659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fdbfe"/>
                </a:solidFill>
                <a:latin typeface="Calibri"/>
              </a:rPr>
              <a:t>multi-class/label · imbalance · thresholds · drift · SLA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88000" y="34200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Softmax: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88000" y="43308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Sigmoid: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288000" y="52416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Cross-entropy: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88000" y="61524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Focal loss: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88000" y="70632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88000" y="7326000"/>
            <a:ext cx="7917480" cy="5734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79740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Threshold: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288000" y="8236800"/>
            <a:ext cx="7917480" cy="57348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288000" y="88848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PSI drift: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288000" y="9147600"/>
            <a:ext cx="7917480" cy="57348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9795600"/>
            <a:ext cx="3237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SLA: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4"/>
          <a:stretch/>
        </p:blipFill>
        <p:spPr>
          <a:xfrm>
            <a:off x="288000" y="10058400"/>
            <a:ext cx="7917480" cy="57348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5"/>
          <a:stretch/>
        </p:blipFill>
        <p:spPr>
          <a:xfrm>
            <a:off x="1420920" y="3095280"/>
            <a:ext cx="1845360" cy="92124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6"/>
          <a:stretch/>
        </p:blipFill>
        <p:spPr>
          <a:xfrm>
            <a:off x="1397520" y="4161960"/>
            <a:ext cx="3503160" cy="64512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7"/>
          <a:stretch/>
        </p:blipFill>
        <p:spPr>
          <a:xfrm>
            <a:off x="2051280" y="5011920"/>
            <a:ext cx="1350000" cy="65448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8"/>
          <a:stretch/>
        </p:blipFill>
        <p:spPr>
          <a:xfrm>
            <a:off x="1596240" y="6055920"/>
            <a:ext cx="1674000" cy="52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Обзор проектов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" name="Table 3"/>
          <p:cNvGraphicFramePr/>
          <p:nvPr/>
        </p:nvGraphicFramePr>
        <p:xfrm>
          <a:off x="365760" y="1371600"/>
          <a:ext cx="8412120" cy="262152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26600">
                <a:tc>
                  <a:txBody>
                    <a:bodyPr anchor="t">
                      <a:noAutofit/>
                    </a:bodyPr>
                    <a:p>
                      <a:endParaRPr b="1" lang="en-US" sz="14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Сбер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ЛАНИТ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Альфа-Банк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Задача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Рекомендации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Классификация TS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NLP / RAG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Масштаб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110+ млн клиентов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Промышленность, ритейл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3 000+ операторов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Данные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13,5 ПБ транзакций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IMU 50 Гц, GPS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Чаты, база знаний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Стек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RePlay, Sim4Rec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2-уровневый классификатор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BERT, LLM + RAG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Эффект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350 млрд ₽ (ИИ, 2023)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+20% производительности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10% время обработки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3893760" y="2011680"/>
            <a:ext cx="13546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Сбер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1859760" y="3108960"/>
            <a:ext cx="54223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Гиперперсонализированные рекомендации</a:t>
            </a:r>
            <a:br>
              <a:rPr sz="2200"/>
            </a:b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для 110+ млн клиентов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Проблема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4295160" y="658440"/>
            <a:ext cx="55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Сбер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502920" y="1325880"/>
            <a:ext cx="822636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60% контента — шаблонный, не учитывает реальные потребности клиента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Клиент хочет ипотеку, а получает кредитную карту → потеря кросс-продаж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Бизнес-подразделения работают вслепую: нет единой платформы предсказания потребностей до запроса пользователя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Данные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4295160" y="658440"/>
            <a:ext cx="55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Сбер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502920" y="1325880"/>
            <a:ext cx="822636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Массив клиентских данных — 13,5 ПБ (≈ 500 млрд страниц текста)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Транзакционная история, поведение в приложении, продуктовый портфель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История взаимодействий с каналами: push, email, чаты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Данные о жизненной ситуации клиента (транзакционный скоринг)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Модель / подход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295160" y="658440"/>
            <a:ext cx="55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Сбер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460440" y="1143000"/>
            <a:ext cx="8226360" cy="30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RePlay (open-source, Сбер) — трансформеры для поведенческих последовательностей; SASRec, BERT4Rec; PySpark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EASE-DAN — коллаборативная модель, связи «товар–товар» по уникальным сигналам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Barlow Twins SASRec — self-supervised обучение без больших размеченных датасетов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Sim4Rec (open-source, Сбер + ИТМО) — симуляция реакций на синтетических данных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Перспектива — гиперперсонализация на базе LLM (сюжеты, стиль, контекст)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686160" y="4209840"/>
            <a:ext cx="1599840" cy="292320"/>
          </a:xfrm>
          <a:prstGeom prst="roundRect">
            <a:avLst>
              <a:gd name="adj" fmla="val 16667"/>
            </a:avLst>
          </a:prstGeom>
          <a:solidFill>
            <a:srgbClr val="1a365d"/>
          </a:solidFill>
          <a:ln>
            <a:solidFill>
              <a:srgbClr val="1a36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Data &amp; features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2514960" y="4209840"/>
            <a:ext cx="1828440" cy="292320"/>
          </a:xfrm>
          <a:prstGeom prst="roundRect">
            <a:avLst>
              <a:gd name="adj" fmla="val 16667"/>
            </a:avLst>
          </a:prstGeom>
          <a:solidFill>
            <a:srgbClr val="2f855a"/>
          </a:solidFill>
          <a:ln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RecSys models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4572360" y="4209840"/>
            <a:ext cx="2057040" cy="292320"/>
          </a:xfrm>
          <a:prstGeom prst="roundRect">
            <a:avLst>
              <a:gd name="adj" fmla="val 16667"/>
            </a:avLst>
          </a:prstGeom>
          <a:solidFill>
            <a:srgbClr val="1a365d"/>
          </a:solidFill>
          <a:ln>
            <a:solidFill>
              <a:srgbClr val="1a36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Production loop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457560" y="4572000"/>
            <a:ext cx="109692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События клиента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транзакции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поведение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каналы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ight Arrow 139"/>
          <p:cNvSpPr/>
          <p:nvPr/>
        </p:nvSpPr>
        <p:spPr>
          <a:xfrm>
            <a:off x="162792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1874880" y="4572000"/>
            <a:ext cx="1142640" cy="71280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Feature pipeline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PySpark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скользящее окно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feature store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ight Arrow 141"/>
          <p:cNvSpPr/>
          <p:nvPr/>
        </p:nvSpPr>
        <p:spPr>
          <a:xfrm>
            <a:off x="309096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3337920" y="457200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Candidate gen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SASRec / BERT4Rec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high Recall@K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ight Arrow 143"/>
          <p:cNvSpPr/>
          <p:nvPr/>
        </p:nvSpPr>
        <p:spPr>
          <a:xfrm>
            <a:off x="464544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4892400" y="457200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Ranking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NDCG / CTR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business rules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ight Arrow 145"/>
          <p:cNvSpPr/>
          <p:nvPr/>
        </p:nvSpPr>
        <p:spPr>
          <a:xfrm>
            <a:off x="619992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6446880" y="457200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Каналы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Сбер Онлайн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push / чат-боты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914760" y="562356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Sim4Rec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симуляция отклика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без PII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ight Arrow 148"/>
          <p:cNvSpPr/>
          <p:nvPr/>
        </p:nvSpPr>
        <p:spPr>
          <a:xfrm>
            <a:off x="2222280" y="587952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2469240" y="562356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fef5e7"/>
          </a:solidFill>
          <a:ln w="12700">
            <a:solidFill>
              <a:srgbClr val="dd6b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A/B test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uplift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CTR / conversion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ight Arrow 150"/>
          <p:cNvSpPr/>
          <p:nvPr/>
        </p:nvSpPr>
        <p:spPr>
          <a:xfrm>
            <a:off x="3776760" y="587952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4023720" y="5623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Monitoring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latency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freshness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errors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ight Arrow 152"/>
          <p:cNvSpPr/>
          <p:nvPr/>
        </p:nvSpPr>
        <p:spPr>
          <a:xfrm>
            <a:off x="5422680" y="587952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5669640" y="5623560"/>
            <a:ext cx="1416960" cy="71280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Feedback loop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клики / покупки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ежедневное retrain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54"/>
          <p:cNvSpPr/>
          <p:nvPr/>
        </p:nvSpPr>
        <p:spPr>
          <a:xfrm>
            <a:off x="1527480" y="6629400"/>
            <a:ext cx="56318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720" rIns="54720" tIns="36720" bIns="36720" anchor="t">
            <a:sp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4a5568"/>
                </a:solidFill>
                <a:latin typeface="Calibri"/>
              </a:rPr>
              <a:t>Смысл: сначала высокий recall кандидатов, затем точное ранжирование и проверка эффекта через A/B + monitoring.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Роль и деплой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4295160" y="658440"/>
            <a:ext cx="55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Сбер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502920" y="1325880"/>
            <a:ext cx="8226360" cy="22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Роль: ML-инженер в аутсорс-команде ЛАНИТ на проекте Сбера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Разработка и дообучение моделей, настройка фичей, оптимизация ранжирования, A/B-тесты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2 500+ рекомендаций/с → 5 млрд предложений/мес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Интеграция: СберБанк Онлайн, СберБизнес, push, чат-боты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Ежедневное переобучение на скользящем окне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Метрики и бизнес-эффект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4295160" y="658440"/>
            <a:ext cx="55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Сбер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502920" y="1325880"/>
            <a:ext cx="8226360" cy="23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60% контента генерируется ИИ без участия человека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Каждая третья продажа — благодаря рекомендациям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Охват: 110+ млн клиентов ежедневно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50+ млрд персонализированных рекомендаций с начала года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Экономический эффект от ИИ-решений Сбера в 2023 — 350 млрд 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RePlay и Sim4Rec открыты для ML-сообщества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3639240" y="2011680"/>
            <a:ext cx="18637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ЛАНИТ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1914120" y="3108960"/>
            <a:ext cx="53139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SOLUT: классификация рабочих операций</a:t>
            </a:r>
            <a:br>
              <a:rPr sz="2200"/>
            </a:b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для повышения производительности труда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Проблема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3920400" y="658440"/>
            <a:ext cx="130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ЛАНИТ · SOLUT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502920" y="1325880"/>
            <a:ext cx="8226360" cy="19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До 40% рабочего времени теряется на непроизводительные действия, простои, нарушения ТБ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Нет объективной картины: работа / отдых / перемещения / подготовительные операции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Без данных невозможно точечно повышать эффективность и обеспечивать безопасность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Данные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3920400" y="658440"/>
            <a:ext cx="130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ЛАНИТ · SOLUT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502920" y="1325880"/>
            <a:ext cx="822636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Акселерометр и гироскоп с фитнес-трекеров — 50 Гц (0,02 с), 3 оси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GPS, барометр, пульсометр (опционально)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Разметка асессорами по видеозаписям — около 40 рабочих дней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Синтетическая выборка для расширения обучающего набора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Модель / подход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3920400" y="658440"/>
            <a:ext cx="130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ЛАНИТ · SOLUT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502920" y="1325880"/>
            <a:ext cx="8226360" cy="27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Двухуровневая архитектура классификатора временных рядов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Нижний уровень (~5 сек): элементарные действия — удар молотком, движение ключом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Верхний уровень (30–60 сек): агрегированные — подготовка, работа штукатура, сварка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Детекция аномалий: ошибки разметки, нетипичное поведение, нарушения ТБ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Итог: полная хронология рабочего дня с детализацией до элементарных движений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157"/>
          <p:cNvSpPr/>
          <p:nvPr/>
        </p:nvSpPr>
        <p:spPr>
          <a:xfrm>
            <a:off x="685800" y="4114800"/>
            <a:ext cx="1737000" cy="292320"/>
          </a:xfrm>
          <a:prstGeom prst="roundRect">
            <a:avLst>
              <a:gd name="adj" fmla="val 16667"/>
            </a:avLst>
          </a:prstGeom>
          <a:solidFill>
            <a:srgbClr val="1a365d"/>
          </a:solidFill>
          <a:ln>
            <a:solidFill>
              <a:srgbClr val="1a36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Sensor pipeline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158"/>
          <p:cNvSpPr/>
          <p:nvPr/>
        </p:nvSpPr>
        <p:spPr>
          <a:xfrm>
            <a:off x="2652120" y="4118400"/>
            <a:ext cx="2148480" cy="292320"/>
          </a:xfrm>
          <a:prstGeom prst="roundRect">
            <a:avLst>
              <a:gd name="adj" fmla="val 16667"/>
            </a:avLst>
          </a:prstGeom>
          <a:solidFill>
            <a:srgbClr val="2f855a"/>
          </a:solidFill>
          <a:ln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Two-level classifier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ounded Rectangle 159"/>
          <p:cNvSpPr/>
          <p:nvPr/>
        </p:nvSpPr>
        <p:spPr>
          <a:xfrm>
            <a:off x="5257800" y="4118400"/>
            <a:ext cx="1782720" cy="292320"/>
          </a:xfrm>
          <a:prstGeom prst="roundRect">
            <a:avLst>
              <a:gd name="adj" fmla="val 16667"/>
            </a:avLst>
          </a:prstGeom>
          <a:solidFill>
            <a:srgbClr val="1a365d"/>
          </a:solidFill>
          <a:ln>
            <a:solidFill>
              <a:srgbClr val="1a36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Operations timeline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ounded Rectangle 160"/>
          <p:cNvSpPr/>
          <p:nvPr/>
        </p:nvSpPr>
        <p:spPr>
          <a:xfrm>
            <a:off x="685800" y="4572000"/>
            <a:ext cx="114264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Wearables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IMU 50 Гц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GPS / barometer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ight Arrow 161"/>
          <p:cNvSpPr/>
          <p:nvPr/>
        </p:nvSpPr>
        <p:spPr>
          <a:xfrm>
            <a:off x="190188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ounded Rectangle 162"/>
          <p:cNvSpPr/>
          <p:nvPr/>
        </p:nvSpPr>
        <p:spPr>
          <a:xfrm>
            <a:off x="2148840" y="457200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Preprocessing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cleaning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sync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windowing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ight Arrow 163"/>
          <p:cNvSpPr/>
          <p:nvPr/>
        </p:nvSpPr>
        <p:spPr>
          <a:xfrm>
            <a:off x="345636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ounded Rectangle 164"/>
          <p:cNvSpPr/>
          <p:nvPr/>
        </p:nvSpPr>
        <p:spPr>
          <a:xfrm>
            <a:off x="3703320" y="457200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Lower model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~5 sec windows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элементарные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действия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ight Arrow 165"/>
          <p:cNvSpPr/>
          <p:nvPr/>
        </p:nvSpPr>
        <p:spPr>
          <a:xfrm>
            <a:off x="501084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ounded Rectangle 166"/>
          <p:cNvSpPr/>
          <p:nvPr/>
        </p:nvSpPr>
        <p:spPr>
          <a:xfrm>
            <a:off x="5257800" y="4572000"/>
            <a:ext cx="1234080" cy="71280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Aggregation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sequence features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30–60 sec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ight Arrow 167"/>
          <p:cNvSpPr/>
          <p:nvPr/>
        </p:nvSpPr>
        <p:spPr>
          <a:xfrm>
            <a:off x="6565320" y="482796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ounded Rectangle 168"/>
          <p:cNvSpPr/>
          <p:nvPr/>
        </p:nvSpPr>
        <p:spPr>
          <a:xfrm>
            <a:off x="6812280" y="4572000"/>
            <a:ext cx="1142640" cy="71280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Upper model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работа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отдых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перемещение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169"/>
          <p:cNvSpPr/>
          <p:nvPr/>
        </p:nvSpPr>
        <p:spPr>
          <a:xfrm>
            <a:off x="1097280" y="5623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Labeling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видеоразметка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assessors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ight Arrow 170"/>
          <p:cNvSpPr/>
          <p:nvPr/>
        </p:nvSpPr>
        <p:spPr>
          <a:xfrm>
            <a:off x="2496240" y="587952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ounded Rectangle 171"/>
          <p:cNvSpPr/>
          <p:nvPr/>
        </p:nvSpPr>
        <p:spPr>
          <a:xfrm>
            <a:off x="2743200" y="5623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ef5e7"/>
          </a:solidFill>
          <a:ln w="12700">
            <a:solidFill>
              <a:srgbClr val="dd6b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Anomaly detection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ошибки разметки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нетипичное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поведение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ight Arrow 172"/>
          <p:cNvSpPr/>
          <p:nvPr/>
        </p:nvSpPr>
        <p:spPr>
          <a:xfrm>
            <a:off x="4142160" y="587952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ounded Rectangle 173"/>
          <p:cNvSpPr/>
          <p:nvPr/>
        </p:nvSpPr>
        <p:spPr>
          <a:xfrm>
            <a:off x="4389120" y="5623560"/>
            <a:ext cx="1416960" cy="7128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Timeline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полная хронология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рабочего дня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ight Arrow 174"/>
          <p:cNvSpPr/>
          <p:nvPr/>
        </p:nvSpPr>
        <p:spPr>
          <a:xfrm>
            <a:off x="5879520" y="5879520"/>
            <a:ext cx="30132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Rounded Rectangle 175"/>
          <p:cNvSpPr/>
          <p:nvPr/>
        </p:nvSpPr>
        <p:spPr>
          <a:xfrm>
            <a:off x="6126480" y="5623560"/>
            <a:ext cx="1416960" cy="71280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4080" rIns="64080" tIns="4500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60" spc="-1" strike="noStrike">
                <a:solidFill>
                  <a:srgbClr val="2d3748"/>
                </a:solidFill>
                <a:latin typeface="Calibri"/>
              </a:rPr>
              <a:t>Business output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простои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производительность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770" spc="-1" strike="noStrike">
                <a:solidFill>
                  <a:srgbClr val="4a5568"/>
                </a:solidFill>
                <a:latin typeface="Calibri"/>
              </a:rPr>
              <a:t>ТБ</a:t>
            </a:r>
            <a:endParaRPr b="0" lang="en-US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76"/>
          <p:cNvSpPr/>
          <p:nvPr/>
        </p:nvSpPr>
        <p:spPr>
          <a:xfrm>
            <a:off x="1542240" y="6629400"/>
            <a:ext cx="60588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720" rIns="54720" tIns="36720" bIns="36720" anchor="t">
            <a:sp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4a5568"/>
                </a:solidFill>
                <a:latin typeface="Calibri"/>
              </a:rPr>
              <a:t>Смысл: короткие окна дают элементарные движения, затем они агрегируются в понятные бизнес-операции за 30–60 секунд.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Роль и деплой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3920400" y="658440"/>
            <a:ext cx="130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ЛАНИТ · SOLUT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502920" y="1325880"/>
            <a:ext cx="8226360" cy="18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Роль: ML-инженер в аутсорс-команде ЛАНИТ на проекте SOLUT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Пайплайн предобработки сырых сенсорных данных, настройка архитектуры, детекция аномалий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Носимые устройства → офлайн-сбор → док-станция → сервер заказчика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Пилоты: ГК «ПИК», «Пятёрочка», «Россети», промышленные объекты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Метрики и бизнес-эффект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3920400" y="658440"/>
            <a:ext cx="130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ЛАНИТ · SOLUT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502920" y="1325880"/>
            <a:ext cx="8226360" cy="26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Потенциал повышения производительности в пилотах — свыше 20%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Точность классов верхнего уровня: работа, отдых, перемещения, подготовка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Количество выявленных аномалий (опасные действия, нарушения ТБ)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Рост производительности через точечную оптимизацию процессов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Снижение травматизма — автоматическое выявление опасных действий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Эффективность подтверждена: стройка, ритейл, ЖКХ, промышленность, энергетика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/>
          <p:nvPr/>
        </p:nvSpPr>
        <p:spPr>
          <a:xfrm>
            <a:off x="3029400" y="2011680"/>
            <a:ext cx="3083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Альфа-Банк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2"/>
          <p:cNvSpPr/>
          <p:nvPr/>
        </p:nvSpPr>
        <p:spPr>
          <a:xfrm>
            <a:off x="1684800" y="3108960"/>
            <a:ext cx="5772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ИИ-помощник контакт-центра:</a:t>
            </a:r>
            <a:br>
              <a:rPr sz="2200"/>
            </a:b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4 модели для мгновенных ответов операторам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Проблема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4037040" y="658440"/>
            <a:ext cx="106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Альфа-Банк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502920" y="1325880"/>
            <a:ext cx="8226360" cy="18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Несколько тысяч операторов контакт-центра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Поиск ответов среди сотен шаблонов в Excel и текстовых документах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Переключение между множеством интерфейсов для данных о клиенте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Драгоценные секунды на каждый запрос → рост времени обслуживания, ухудшение CX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Данные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4037040" y="658440"/>
            <a:ext cx="106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Альфа-Банк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502920" y="1325880"/>
            <a:ext cx="8226360" cy="19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История диалогов клиентов (чат-логи) — сбор в онлайн-режиме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Контекст текущего диалога (история сообщений за несколько дней)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База знаний банка по продуктам и процессам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Архив шаблонных ответов операторов (Excel, документы)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Данные о клиентах для персонализации подсказок (в разработке)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Модель / подход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4037040" y="658440"/>
            <a:ext cx="106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Альфа-Банк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4"/>
          <p:cNvSpPr/>
          <p:nvPr/>
        </p:nvSpPr>
        <p:spPr>
          <a:xfrm>
            <a:off x="502920" y="1143000"/>
            <a:ext cx="7726320" cy="22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BERT bi-encoder — рекомендация шаблонов ответа (prod, 90% операторов)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BERT bi-encoder — ответы экспертов на похожие вопросы (prod)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BERT bi-encoder — рекомендация интерфейсов системы (prod)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RAG + LLM — генерация консультаций из базы знаний (пилот, 15% потока)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В LLM отправляем не embeddings, а найденные тексты/chunks + citations после rerank/filter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179"/>
          <p:cNvSpPr/>
          <p:nvPr/>
        </p:nvSpPr>
        <p:spPr>
          <a:xfrm>
            <a:off x="594720" y="3593880"/>
            <a:ext cx="1919520" cy="291960"/>
          </a:xfrm>
          <a:prstGeom prst="roundRect">
            <a:avLst>
              <a:gd name="adj" fmla="val 16667"/>
            </a:avLst>
          </a:prstGeom>
          <a:solidFill>
            <a:srgbClr val="1a365d"/>
          </a:solidFill>
          <a:ln>
            <a:solidFill>
              <a:srgbClr val="1a36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BERT retrieval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ounded Rectangle 180"/>
          <p:cNvSpPr/>
          <p:nvPr/>
        </p:nvSpPr>
        <p:spPr>
          <a:xfrm>
            <a:off x="3109320" y="3593880"/>
            <a:ext cx="1919520" cy="291960"/>
          </a:xfrm>
          <a:prstGeom prst="roundRect">
            <a:avLst>
              <a:gd name="adj" fmla="val 16667"/>
            </a:avLst>
          </a:prstGeom>
          <a:solidFill>
            <a:srgbClr val="2f855a"/>
          </a:solidFill>
          <a:ln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Context assembly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ounded Rectangle 181"/>
          <p:cNvSpPr/>
          <p:nvPr/>
        </p:nvSpPr>
        <p:spPr>
          <a:xfrm>
            <a:off x="5715000" y="3593880"/>
            <a:ext cx="1828080" cy="291960"/>
          </a:xfrm>
          <a:prstGeom prst="roundRect">
            <a:avLst>
              <a:gd name="adj" fmla="val 16667"/>
            </a:avLst>
          </a:prstGeom>
          <a:solidFill>
            <a:srgbClr val="1a365d"/>
          </a:solidFill>
          <a:ln>
            <a:solidFill>
              <a:srgbClr val="1a36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LLM answer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Rounded Rectangle 182"/>
          <p:cNvSpPr/>
          <p:nvPr/>
        </p:nvSpPr>
        <p:spPr>
          <a:xfrm>
            <a:off x="457200" y="4114800"/>
            <a:ext cx="1142280" cy="71244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Диалог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история сообщений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+ тема обращения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ight Arrow 183"/>
          <p:cNvSpPr/>
          <p:nvPr/>
        </p:nvSpPr>
        <p:spPr>
          <a:xfrm>
            <a:off x="1673280" y="437076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ounded Rectangle 184"/>
          <p:cNvSpPr/>
          <p:nvPr/>
        </p:nvSpPr>
        <p:spPr>
          <a:xfrm>
            <a:off x="1920240" y="4114800"/>
            <a:ext cx="1233720" cy="71244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Query BERT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encoder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embedding запроса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ight Arrow 185"/>
          <p:cNvSpPr/>
          <p:nvPr/>
        </p:nvSpPr>
        <p:spPr>
          <a:xfrm>
            <a:off x="3227760" y="437076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Rounded Rectangle 186"/>
          <p:cNvSpPr/>
          <p:nvPr/>
        </p:nvSpPr>
        <p:spPr>
          <a:xfrm>
            <a:off x="3474720" y="4114800"/>
            <a:ext cx="1142280" cy="71244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Vector search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top-K IDs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по cosine/dot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ight Arrow 187"/>
          <p:cNvSpPr/>
          <p:nvPr/>
        </p:nvSpPr>
        <p:spPr>
          <a:xfrm>
            <a:off x="4690800" y="437076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ounded Rectangle 188"/>
          <p:cNvSpPr/>
          <p:nvPr/>
        </p:nvSpPr>
        <p:spPr>
          <a:xfrm>
            <a:off x="4937760" y="4114800"/>
            <a:ext cx="1325160" cy="71244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Text lookup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исходные тексты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+ metadata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ight Arrow 189"/>
          <p:cNvSpPr/>
          <p:nvPr/>
        </p:nvSpPr>
        <p:spPr>
          <a:xfrm>
            <a:off x="6336720" y="437076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Rounded Rectangle 190"/>
          <p:cNvSpPr/>
          <p:nvPr/>
        </p:nvSpPr>
        <p:spPr>
          <a:xfrm>
            <a:off x="6583680" y="4114800"/>
            <a:ext cx="1142280" cy="71244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Rerank/filter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dedup + права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+ token budget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ounded Rectangle 191"/>
          <p:cNvSpPr/>
          <p:nvPr/>
        </p:nvSpPr>
        <p:spPr>
          <a:xfrm>
            <a:off x="731520" y="5166360"/>
            <a:ext cx="1416600" cy="71244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RAG retrieval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chunks базы знаний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+ citations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ight Arrow 192"/>
          <p:cNvSpPr/>
          <p:nvPr/>
        </p:nvSpPr>
        <p:spPr>
          <a:xfrm>
            <a:off x="2221920" y="542232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ounded Rectangle 193"/>
          <p:cNvSpPr/>
          <p:nvPr/>
        </p:nvSpPr>
        <p:spPr>
          <a:xfrm>
            <a:off x="2468880" y="5166360"/>
            <a:ext cx="1645200" cy="712440"/>
          </a:xfrm>
          <a:prstGeom prst="roundRect">
            <a:avLst>
              <a:gd name="adj" fmla="val 16667"/>
            </a:avLst>
          </a:prstGeom>
          <a:solidFill>
            <a:srgbClr val="ebf8f0"/>
          </a:solidFill>
          <a:ln w="12700">
            <a:solidFill>
              <a:srgbClr val="2f855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Prompt builder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диалог + тексты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+ RAG chunks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ight Arrow 194"/>
          <p:cNvSpPr/>
          <p:nvPr/>
        </p:nvSpPr>
        <p:spPr>
          <a:xfrm>
            <a:off x="4187880" y="542232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ounded Rectangle 195"/>
          <p:cNvSpPr/>
          <p:nvPr/>
        </p:nvSpPr>
        <p:spPr>
          <a:xfrm>
            <a:off x="4434840" y="5166360"/>
            <a:ext cx="1325160" cy="712440"/>
          </a:xfrm>
          <a:prstGeom prst="roundRect">
            <a:avLst>
              <a:gd name="adj" fmla="val 16667"/>
            </a:avLst>
          </a:prstGeom>
          <a:solidFill>
            <a:srgbClr val="e5efff"/>
          </a:solidFill>
          <a:ln w="12700">
            <a:solidFill>
              <a:srgbClr val="2f6f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LLM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генерация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консультации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ight Arrow 196"/>
          <p:cNvSpPr/>
          <p:nvPr/>
        </p:nvSpPr>
        <p:spPr>
          <a:xfrm>
            <a:off x="5833800" y="5422320"/>
            <a:ext cx="31932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0"/>
          </a:solidFill>
          <a:ln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Rounded Rectangle 197"/>
          <p:cNvSpPr/>
          <p:nvPr/>
        </p:nvSpPr>
        <p:spPr>
          <a:xfrm>
            <a:off x="6080760" y="5166360"/>
            <a:ext cx="1645200" cy="71244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47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2d3748"/>
                </a:solidFill>
                <a:latin typeface="Calibri"/>
              </a:rPr>
              <a:t>UI оператора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ответ + источники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0" lang="en-US" sz="839" spc="-1" strike="noStrike">
                <a:solidFill>
                  <a:srgbClr val="4a5568"/>
                </a:solidFill>
                <a:latin typeface="Calibri"/>
              </a:rPr>
              <a:t>+ confidence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98"/>
          <p:cNvSpPr/>
          <p:nvPr/>
        </p:nvSpPr>
        <p:spPr>
          <a:xfrm>
            <a:off x="606960" y="6172200"/>
            <a:ext cx="72900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720" rIns="54720" tIns="36720" bIns="36720" anchor="t">
            <a:sp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</a:rPr>
              <a:t>Важно: embeddings не декодируются в текст. Они используются только для поиска ID, а в LLM передаются исходные найденные фрагменты.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Роль и деплой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4037040" y="658440"/>
            <a:ext cx="106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Альфа-Банк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502920" y="1325880"/>
            <a:ext cx="8226360" cy="18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Роль: DS в аутсорс-команде ЛАНИТ на проекте Альфа-Банка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Дообучение BERT на банковском корпусе, настройка inference, A/B-тесты, мониторинг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Бэкенд собирает диалоги онлайн → inference в реальном времени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Подсказки в рабочем окне оператора на всём потоке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Метрики и бизнес-эффект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4037040" y="658440"/>
            <a:ext cx="1068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fdbfe"/>
                </a:solidFill>
                <a:latin typeface="Calibri"/>
              </a:rPr>
              <a:t>Альфа-Банк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502920" y="1325880"/>
            <a:ext cx="8226360" cy="23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Сокращение среднего времени обработки обращения: −10%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Точность подсказок: 42% (цель 50%)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VoC (удовлетворённость клиента): +1,5 п.п. при использовании помощника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VoE (оценка сотрудников): 4,81 из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3 000+ операторов используют помощник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4a5568"/>
                </a:solidFill>
                <a:latin typeface="Calibri"/>
              </a:rPr>
              <a:t>Roadmap: рекомендации → RAG-генерация → персонализация по клиенту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9140760" cy="1048320"/>
          </a:xfrm>
          <a:prstGeom prst="rect">
            <a:avLst/>
          </a:prstGeom>
          <a:solidFill>
            <a:srgbClr val="1a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457200" y="137160"/>
            <a:ext cx="8226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Итоги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0" name="Table 3"/>
          <p:cNvGraphicFramePr/>
          <p:nvPr/>
        </p:nvGraphicFramePr>
        <p:xfrm>
          <a:off x="365760" y="1371600"/>
          <a:ext cx="8411760" cy="1922760"/>
        </p:xfrm>
        <a:graphic>
          <a:graphicData uri="http://schemas.openxmlformats.org/drawingml/2006/table">
            <a:tbl>
              <a:tblPr/>
              <a:tblGrid>
                <a:gridCol w="2804040"/>
                <a:gridCol w="2804040"/>
                <a:gridCol w="28040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Проект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Масштаб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Главный результат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b6cb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Сбер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110+ млн клиентов, 13,5 ПБ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Проактивные рекомендации, 350 млрд ₽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ЛАНИТ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Промышленность, стройка, ритейл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+20% производительности, безопасность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Альфа-Банк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3 000+ операторов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300" spc="-1" strike="noStrike">
                          <a:solidFill>
                            <a:srgbClr val="4a5568"/>
                          </a:solidFill>
                          <a:latin typeface="Calibri"/>
                        </a:rPr>
                        <a:t>10% время обработки, 4 модели в prod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/>
          <p:nvPr/>
        </p:nvSpPr>
        <p:spPr>
          <a:xfrm>
            <a:off x="3383280" y="2560320"/>
            <a:ext cx="2375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Спасибо!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Application>LibreOffice/24.2.4.2$Windows_X86_64 LibreOffice_project/51a6219feb6075d9a4c46691dcfe0cd9c4fff3c2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2026-07-03T23:58:44Z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